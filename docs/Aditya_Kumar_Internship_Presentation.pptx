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83462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EA5E9"/>
                </a:solidFill>
                <a:latin typeface="Calibri"/>
              </a:defRPr>
            </a:pPr>
            <a:r>
              <a:t>HARIDWAR UNIVERSITY, ROORKEE</a:t>
            </a:r>
          </a:p>
          <a:p>
            <a:pPr>
              <a:spcAft>
                <a:spcPts val="1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Department of Computer Science &amp; Engineering | B.Tech. 5th Semester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Basic Analysis of RAG Systems &amp; Development of a</a:t>
            </a:r>
            <a:br/>
            <a:r>
              <a:t>Personal Document Q&amp;A Assistant</a:t>
            </a:r>
          </a:p>
          <a:p>
            <a:pPr>
              <a:defRPr sz="1300" i="1">
                <a:solidFill>
                  <a:srgbClr val="94A3B8"/>
                </a:solidFill>
                <a:latin typeface="Calibri"/>
              </a:defRPr>
            </a:pPr>
            <a:r>
              <a:t>Summer Internship Project Presentation (15 June 2026 – 18 July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4754880" cy="1645920"/>
          </a:xfrm>
          <a:prstGeom prst="roundRect">
            <a:avLst/>
          </a:prstGeom>
          <a:solidFill>
            <a:srgbClr val="102C57"/>
          </a:solidFill>
          <a:ln w="12700"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20624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CANDIDATE PROFILE: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Name: Aditya Kumar</a:t>
            </a:r>
            <a:br/>
            <a:r>
              <a:t>Roll No / Enrolment No: 024101010012</a:t>
            </a:r>
            <a:br/>
            <a:r>
              <a:t>Faculty Mentor: Pooja Parmar | HOD: Dr. Himanshu Verma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114800"/>
            <a:ext cx="4754880" cy="1645920"/>
          </a:xfrm>
          <a:prstGeom prst="roundRect">
            <a:avLst/>
          </a:prstGeom>
          <a:solidFill>
            <a:srgbClr val="102C57"/>
          </a:solidFill>
          <a:ln w="12700"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420624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ORGANISATION PROFILE: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InternCourse (interncourse.online), Patna, Bihar</a:t>
            </a:r>
            <a:br/>
            <a:r>
              <a:t>Managing Director: Ankit Pandey</a:t>
            </a:r>
            <a:br/>
            <a:r>
              <a:t>Accreditation: ISO 9001:2015, AICTE, MCA | Cert ID: IC26/11873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B.TECH. INTERNSHIP PRESENTATION (SESSION 2025–2026)</a:t>
            </a:r>
          </a:p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Executive 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35598E"/>
          </a:solidFill>
          <a:ln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Haridwar University, Roorkee | Aditya Kumar (024101010012) | InternCourse (Patna) | IC26/11873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2C57"/>
                </a:solidFill>
              </a:defRPr>
            </a:pPr>
            <a:r>
              <a:t>Introduction &amp; Problem Statement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Parametric LLM limitations, hallucinations, and privacy vulnerabilities in enterprise document 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828800"/>
            <a:ext cx="54864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830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2C57"/>
                </a:solidFill>
              </a:defRPr>
            </a:pPr>
            <a:r>
              <a:t>Host Organisation Overview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InternCourse (Patna), ISO 9001:2015 quality frameworks, AICTE training divisions, and mentorship.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2578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291840"/>
            <a:ext cx="54864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4612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2C57"/>
                </a:solidFill>
              </a:defRPr>
            </a:pPr>
            <a:r>
              <a:t>Internship Objectives &amp; Scope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Vector algebra, dense semantic representations, chunking heuristics, and grounding architecture.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108960"/>
            <a:ext cx="52578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3291840"/>
            <a:ext cx="54864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24612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2C57"/>
                </a:solidFill>
              </a:defRPr>
            </a:pPr>
            <a:r>
              <a:t>RAG Pipeline Architecture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7-stage workflow: PyPDF parsing -&gt; 500-token chunking -&gt; MiniLM embeddings -&gt; ChromaDB -&gt; Grounded LLM.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52578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754880"/>
            <a:ext cx="54864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70916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2C57"/>
                </a:solidFill>
              </a:defRPr>
            </a:pPr>
            <a:r>
              <a:t>Experimental Benchmarks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Empirical evaluations of chunk size vs. retrieval accuracy, sub-15ms vector lookup latencies.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72000"/>
            <a:ext cx="52578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754880"/>
            <a:ext cx="54864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70916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2C57"/>
                </a:solidFill>
              </a:defRPr>
            </a:pPr>
            <a:r>
              <a:t>Challenges, Solutions &amp; Demo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Boundary context loss remedies, token optimization, UI dashboard, and live GitHub repository.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B.TECH. INTERNSHIP PRESENTATION (SESSION 2025–2026)</a:t>
            </a:r>
          </a:p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Problem Statement: Limitations of Foundational LLMs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35598E"/>
          </a:solidFill>
          <a:ln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Haridwar University, Roorkee | Aditya Kumar (024101010012) | InternCourse (Patna) | IC26/11873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Parametric Knowledge Cutoffs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LLM neural weights are frozen post-pretraining.</a:t>
            </a:r>
            <a:br/>
            <a:r>
              <a:t>• Foundational models have zero awareness of new world events or private domain datasets.</a:t>
            </a:r>
            <a:br/>
            <a:r>
              <a:t>• Fine-tuning is computationally expensive and quickly obsolescent.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548640"/>
          </a:xfrm>
          <a:prstGeom prst="rect">
            <a:avLst/>
          </a:prstGeom>
          <a:solidFill>
            <a:srgbClr val="355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Hallucination Vulnerabilities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When queried about unobserved domain documents, LLMs generate factually inaccurate yet fluent answers.</a:t>
            </a:r>
            <a:br/>
            <a:r>
              <a:t>• Intolerable risk in academic, engineering, and legal workflows requiring absolute factual fidelity.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Data Privacy &amp; Enterprise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Transmitting proprietary university records or enterprise intellectual property to commercial third-party cloud APIs violates compliance.</a:t>
            </a:r>
            <a:br/>
            <a:r>
              <a:t>• Mandates fully offline, local, privacy-preserving retrieval architectures.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B.TECH. INTERNSHIP PRESENTATION (SESSION 2025–2026)</a:t>
            </a:r>
          </a:p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Host Organisation: InternCourse (interncourse.online)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35598E"/>
          </a:solidFill>
          <a:ln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Haridwar University, Roorkee | Aditya Kumar (024101010012) | InternCourse (Patna) | IC26/11873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102C57"/>
                </a:solidFill>
              </a:defRPr>
            </a:pPr>
            <a:r>
              <a:t>Corporate Profile &amp; Mission: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InternCourse is an accredited industrial training provider registered under the Ministry of Corporate Affairs (MCA), headquartered in Patna, Bihar. The organization bridges academia and the AI industry through intensive, production-focused engineering internships.</a:t>
            </a:r>
          </a:p>
          <a:p>
            <a:pPr>
              <a:spcAft>
                <a:spcPts val="400"/>
              </a:spcAft>
              <a:defRPr b="1" sz="1200">
                <a:solidFill>
                  <a:srgbClr val="102C57"/>
                </a:solidFill>
              </a:defRPr>
            </a:pPr>
            <a:r>
              <a:t>Key Institutional Accreditations: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✓  ISO 9001:2015 Certified for Quality Management in technical education.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✓  Partnered with AICTE (All India Council for Technical Education) initiatives.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✓  Ministry of Corporate Affairs (MCA) registered and compliant corporate entity.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✓  Executive Leadership: Managing Director Ankit Pandey.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4297680"/>
          </a:xfrm>
          <a:prstGeom prst="roundRect">
            <a:avLst/>
          </a:prstGeom>
          <a:solidFill>
            <a:srgbClr val="102C5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EA5E9"/>
                </a:solidFill>
              </a:defRPr>
            </a:pPr>
            <a:r>
              <a:t>OFFICIAL CREDENTIALS</a:t>
            </a:r>
          </a:p>
          <a:p>
            <a:pPr>
              <a:defRPr b="1" sz="1000">
                <a:solidFill>
                  <a:srgbClr val="94A3B8"/>
                </a:solidFill>
              </a:defRPr>
            </a:pPr>
            <a:r>
              <a:t>Student Intern: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Aditya Kumar</a:t>
            </a:r>
          </a:p>
          <a:p>
            <a:pPr>
              <a:defRPr b="1" sz="1000">
                <a:solidFill>
                  <a:srgbClr val="94A3B8"/>
                </a:solidFill>
              </a:defRPr>
            </a:pPr>
            <a:r>
              <a:t>Roll Number: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024101010012</a:t>
            </a:r>
          </a:p>
          <a:p>
            <a:pPr>
              <a:defRPr b="1" sz="1000">
                <a:solidFill>
                  <a:srgbClr val="94A3B8"/>
                </a:solidFill>
              </a:defRPr>
            </a:pPr>
            <a:r>
              <a:t>Certificate ID: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IC26/11873</a:t>
            </a:r>
          </a:p>
          <a:p>
            <a:pPr>
              <a:defRPr b="1" sz="1000">
                <a:solidFill>
                  <a:srgbClr val="94A3B8"/>
                </a:solidFill>
              </a:defRPr>
            </a:pPr>
            <a:r>
              <a:t>Training Duration: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15 June 2026 – 18 July 2026 (6 Weeks)</a:t>
            </a:r>
          </a:p>
          <a:p>
            <a:pPr>
              <a:defRPr b="1" sz="1000">
                <a:solidFill>
                  <a:srgbClr val="94A3B8"/>
                </a:solidFill>
              </a:defRPr>
            </a:pPr>
            <a:r>
              <a:t>Technical Domain: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Artificial Intelligence &amp; NLP</a:t>
            </a:r>
          </a:p>
          <a:p>
            <a:pPr>
              <a:defRPr b="1" sz="1000">
                <a:solidFill>
                  <a:srgbClr val="94A3B8"/>
                </a:solidFill>
              </a:defRPr>
            </a:pPr>
            <a:r>
              <a:t>University Mentor: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Pooja Parmar</a:t>
            </a:r>
          </a:p>
          <a:p>
            <a:pPr>
              <a:defRPr b="1" sz="1000">
                <a:solidFill>
                  <a:srgbClr val="94A3B8"/>
                </a:solidFill>
              </a:defRPr>
            </a:pPr>
            <a:r>
              <a:t>Head of Department: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Dr. Himanshu Verma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B.TECH. INTERNSHIP PRESENTATION (SESSION 2025–2026)</a:t>
            </a:r>
          </a:p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RAG Pipeline: End-to-End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35598E"/>
          </a:solidFill>
          <a:ln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Haridwar University, Roorkee | Aditya Kumar (024101010012) | InternCourse (Patna) | IC26/11873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4630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463040" cy="4572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1.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77440"/>
            <a:ext cx="131673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PyPDF / PyMuPDF</a:t>
            </a:r>
            <a:br/>
            <a:r>
              <a:t>Text extraction &amp; noise cleaning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7712" y="1828800"/>
            <a:ext cx="14630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67712" y="1828800"/>
            <a:ext cx="1463040" cy="4572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2. Chunking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864" y="2377440"/>
            <a:ext cx="131673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Recursive Splitter</a:t>
            </a:r>
            <a:br/>
            <a:r>
              <a:t>500 tokens, 50 sliding overlap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1828800"/>
            <a:ext cx="14630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03904" y="1828800"/>
            <a:ext cx="1463040" cy="4572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3. 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377440"/>
            <a:ext cx="131673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all-MiniLM-L6-v2</a:t>
            </a:r>
            <a:br/>
            <a:r>
              <a:t>384-dimensional dense vectors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0096" y="1828800"/>
            <a:ext cx="14630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40096" y="1828800"/>
            <a:ext cx="1463040" cy="4572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4. Vector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377440"/>
            <a:ext cx="131673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ChromaDB</a:t>
            </a:r>
            <a:br/>
            <a:r>
              <a:t>HNSW graph indexing &amp;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1828800"/>
            <a:ext cx="14630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76288" y="1828800"/>
            <a:ext cx="1463040" cy="4572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5.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77440"/>
            <a:ext cx="131673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Cosine Similarity</a:t>
            </a:r>
            <a:br/>
            <a:r>
              <a:t>Top-K (K=4) candidate 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828800"/>
            <a:ext cx="14630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828800"/>
            <a:ext cx="1463040" cy="4572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6. Augmentation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377440"/>
            <a:ext cx="131673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Prompt Engine</a:t>
            </a:r>
            <a:br/>
            <a:r>
              <a:t>Context injection + citations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48672" y="1828800"/>
            <a:ext cx="14630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7.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1824" y="2377440"/>
            <a:ext cx="131673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Ollama / Llama-3</a:t>
            </a:r>
            <a:br/>
            <a:r>
              <a:t>Grounded factual answering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102C57"/>
          </a:solidFill>
          <a:ln w="12700"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206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Mathematical Principle: Dense Cosine Similarity Matching in R^384 Space</a:t>
            </a:r>
          </a:p>
          <a:p>
            <a:pPr>
              <a:defRPr sz="1000">
                <a:solidFill>
                  <a:srgbClr val="F1F5F9"/>
                </a:solidFill>
                <a:latin typeface="Consolas"/>
              </a:defRPr>
            </a:pPr>
            <a:r>
              <a:t>CosineSimilarity(Query, Chunk_i) = (E(Query) · E(Chunk_i)) / ( ||E(Query)|| * ||E(Chunk_i)|| )  — Matches conceptual semantic meaning even with 0% lexical keyword overlap.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B.TECH. INTERNSHIP PRESENTATION (SESSION 2025–2026)</a:t>
            </a:r>
          </a:p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Technology Stack &amp; Development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35598E"/>
          </a:solidFill>
          <a:ln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Haridwar University, Roorkee | Aditya Kumar (024101010012) | InternCourse (Patna) | IC26/11873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AI &amp;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35598E"/>
                </a:solidFill>
              </a:defRPr>
            </a:pPr>
            <a:r>
              <a:t>Python 3.11+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Primary language for high-performance ML pipelines.</a:t>
            </a:r>
          </a:p>
          <a:p>
            <a:pPr>
              <a:defRPr b="1" sz="1150">
                <a:solidFill>
                  <a:srgbClr val="35598E"/>
                </a:solidFill>
              </a:defRPr>
            </a:pPr>
            <a:r>
              <a:t>LangChain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Decoupled pipeline chaining, loaders, and splitters.</a:t>
            </a:r>
          </a:p>
          <a:p>
            <a:pPr>
              <a:defRPr b="1" sz="1150">
                <a:solidFill>
                  <a:srgbClr val="35598E"/>
                </a:solidFill>
              </a:defRPr>
            </a:pPr>
            <a:r>
              <a:t>Sentence-Transformers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all-MiniLM-L6-v2 transformer model (384-dim).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Database &amp;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35598E"/>
                </a:solidFill>
              </a:defRPr>
            </a:pPr>
            <a:r>
              <a:t>ChromaDB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Embedded vector database with HNSW graph indexing.</a:t>
            </a:r>
          </a:p>
          <a:p>
            <a:pPr>
              <a:defRPr b="1" sz="1150">
                <a:solidFill>
                  <a:srgbClr val="35598E"/>
                </a:solidFill>
              </a:defRPr>
            </a:pPr>
            <a:r>
              <a:t>PyPDF &amp; PyMuPDF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High-fidelity text &amp; table stream extraction.</a:t>
            </a:r>
          </a:p>
          <a:p>
            <a:pPr>
              <a:defRPr b="1" sz="1150">
                <a:solidFill>
                  <a:srgbClr val="35598E"/>
                </a:solidFill>
              </a:defRPr>
            </a:pPr>
            <a:r>
              <a:t>SQLite3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Session state &amp; chat interaction metadata persistence.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Front-End &amp;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35598E"/>
                </a:solidFill>
              </a:defRPr>
            </a:pPr>
            <a:r>
              <a:t>Streamlit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Full-stack reactive web dashboard with live citation cards.</a:t>
            </a:r>
          </a:p>
          <a:p>
            <a:pPr>
              <a:defRPr b="1" sz="1150">
                <a:solidFill>
                  <a:srgbClr val="35598E"/>
                </a:solidFill>
              </a:defRPr>
            </a:pPr>
            <a:r>
              <a:t>Git &amp; GitHub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Collaborative version control and artifact hosting.</a:t>
            </a:r>
          </a:p>
          <a:p>
            <a:pPr>
              <a:defRPr b="1" sz="1150">
                <a:solidFill>
                  <a:srgbClr val="35598E"/>
                </a:solidFill>
              </a:defRPr>
            </a:pPr>
            <a:r>
              <a:t>WordCraft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Native engine for professional report verification &amp; conversion.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B.TECH. INTERNSHIP PRESENTATION (SESSION 2025–2026)</a:t>
            </a:r>
          </a:p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Experimental Evaluation: Chunking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35598E"/>
          </a:solidFill>
          <a:ln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Haridwar University, Roorkee | Aditya Kumar (024101010012) | InternCourse (Patna) | IC26/11873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28800"/>
          <a:ext cx="103628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1645920"/>
                <a:gridCol w="3413455"/>
              </a:tblGrid>
              <a:tr h="51206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Chunk Configuration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Sliding Overlap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Retrieval Latency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Hit Rate @ K=4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Qualitative Failure Analysis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Small (250 tokens)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25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11.2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Frequent sentence fragmentation; loses semantic context.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2C57"/>
                          </a:solidFill>
                        </a:defRPr>
                      </a:pPr>
                      <a:r>
                        <a:t>Medium (500 tokens) ★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50 tokens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14.8 ms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89.6%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Optimal balance; high semantic precision, complete concepts.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Large (1000 tokens)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100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22.6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Diluted semantic density; vector includes extraneous noise.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Extreme (2000 tokens)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200 tokens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38.1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59.8%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High latency; prompt token limits exceeded, attention dispersion.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46320"/>
            <a:ext cx="10728655" cy="1188720"/>
          </a:xfrm>
          <a:prstGeom prst="roundRect">
            <a:avLst/>
          </a:prstGeom>
          <a:solidFill>
            <a:srgbClr val="102C5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377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EMPIRICAL TAKEAWAY: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500-token chunks with 50-token sliding overlap achieved the peak Hit Rate (89.6%) while maintaining sub-15ms vector lookup latency on standard consumer hardware. This proved superior to larger windows where semantic precision degraded.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B.TECH. INTERNSHIP PRESENTATION (SESSION 2025–2026)</a:t>
            </a:r>
          </a:p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Key Engineering 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35598E"/>
          </a:solidFill>
          <a:ln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Haridwar University, Roorkee | Aditya Kumar (024101010012) | InternCourse (Patna) | IC26/11873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Chunk Boundary Context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Problem: Fixed-size character boundaries split crucial sentences across adjacent chunks, causing retrieval failures.</a:t>
            </a:r>
            <a:br/>
            <a:br/>
            <a:r>
              <a:t>Solution: Configured recursive hierarchical splitting (['\n\n', '\n', '. ', ' ']) with a 10% sliding overlap window (50 tokens) to guarantee contextual continuity.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Token Limit &amp; Cost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Problem: Retrieving high K values inflated context payloads, degraded response generation speed, and caused 'lost-in-the-middle' attention loss.</a:t>
            </a:r>
            <a:br/>
            <a:br/>
            <a:r>
              <a:t>Solution: Tuned retrieval to Top-K = 4 and introduced a cosine relevance score threshold (0.65) to strictly discard noisy background chunks.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5486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Tabular Data Extraction in PDFs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Problem: Standard document extractors linearized matrix tables into continuous incoherent word streams, destroying relational structure.</a:t>
            </a:r>
            <a:br/>
            <a:br/>
            <a:r>
              <a:t>Solution: Integrated specialized table extractors that serialize PDF tables into Markdown syntax before embedding, enabling exact numerical reasoning.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B.TECH. INTERNSHIP PRESENTATION (SESSION 2025–2026)</a:t>
            </a:r>
          </a:p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Personal Document Q&amp;A Assistant: UI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35598E"/>
          </a:solidFill>
          <a:ln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Haridwar University, Roorkee | Aditya Kumar (024101010012) | InternCourse (Patna) | IC26/11873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2C57"/>
                </a:solidFill>
              </a:defRPr>
            </a:pPr>
            <a:r>
              <a:t>Document Ingestion &amp; Grounded Q&amp;A Interface</a:t>
            </a:r>
          </a:p>
        </p:txBody>
      </p:sp>
      <p:pic>
        <p:nvPicPr>
          <p:cNvPr id="7" name="Picture 6" descr="ui_artifact_1_ingestion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892040" cy="285369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72200" y="1645920"/>
            <a:ext cx="525780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2C57"/>
                </a:solidFill>
              </a:defRPr>
            </a:pPr>
            <a:r>
              <a:t>Verified Citation Inspector &amp; Relevance Scoring</a:t>
            </a:r>
          </a:p>
        </p:txBody>
      </p:sp>
      <p:pic>
        <p:nvPicPr>
          <p:cNvPr id="10" name="Picture 9" descr="ui_artifact_2_citations_insp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94560"/>
            <a:ext cx="4892040" cy="28536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B.TECH. INTERNSHIP PRESENTATION (SESSION 2025–2026)</a:t>
            </a:r>
          </a:p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Conclusion &amp; Future Research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35598E"/>
          </a:solidFill>
          <a:ln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Haridwar University, Roorkee | Aditya Kumar (024101010012) | InternCourse (Patna) | IC26/11873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02C57"/>
                </a:solidFill>
              </a:defRPr>
            </a:pPr>
            <a:r>
              <a:t>Internship Conclusions: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Eliminated Hallucination: The RAG assistant demonstrated that local factual grounding eliminates neural hallucinations.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High Performance: Achieved an 89.6% retrieval hit rate with sub-15ms vector lookup latency using all-MiniLM-L6-v2 and ChromaDB.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Privacy-Preserving: Entire pipeline operates locally without streaming sensitive enterprise/academic data to commercial cloud APIs.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Comprehensive Deliverables: Successfully submitted the 23-page formal report, source code repository, and interactive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02C57"/>
                </a:solidFill>
              </a:defRPr>
            </a:pPr>
            <a:r>
              <a:t>Future Research Directions: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➔ Hybrid Search (BM25 + Dense Vectors): Integrate Reciprocal Rank Fusion (RRF) to capture exact keyword acronyms alongside semantic concepts.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➔ Cross-Encoder Re-Rankers: Deploy BAAI/bge-reranker-large to re-score Top-20 retrieved candidates, maximizing Top-3 precision.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➔ Multimodal OCR Parsing: Integrate PaddleOCR/Tesseract to seamlessly index scanned historical documents and architectural schematics.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➔ Multi-Hop Agentic Workflows: Equip the assistant with autonomous multi-step planning to decompose complex cross-document inquiries.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Aft>
                <a:spcPts val="2800"/>
              </a:spcAft>
              <a:defRPr sz="2000">
                <a:solidFill>
                  <a:srgbClr val="0EA5E9"/>
                </a:solidFill>
                <a:latin typeface="Calibri"/>
              </a:defRPr>
            </a:pPr>
            <a:r>
              <a:t>Questions &amp; Academic Discussion</a:t>
            </a:r>
          </a:p>
          <a:p>
            <a:pPr algn="ctr">
              <a:defRPr sz="1300">
                <a:solidFill>
                  <a:srgbClr val="E2E8F0"/>
                </a:solidFill>
                <a:latin typeface="Calibri"/>
              </a:defRPr>
            </a:pPr>
            <a:r>
              <a:t>Aditya Kumar | B.Tech. Computer Science &amp; Engineering (5th Semester)</a:t>
            </a:r>
            <a:br/>
            <a:r>
              <a:t>University Roll Number: 024101010012 | Enrolment Number: 024101010012</a:t>
            </a:r>
            <a:br/>
            <a:r>
              <a:t>Department of Computer Science &amp; Engineering, Haridwar University, Roorkee</a:t>
            </a:r>
            <a:br/>
            <a:br/>
            <a:r>
              <a:t>Official GitHub Repository:</a:t>
            </a:r>
            <a:br/>
            <a:r>
              <a:t>https://github.com/aditya93416/personal-document-rag-assistant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