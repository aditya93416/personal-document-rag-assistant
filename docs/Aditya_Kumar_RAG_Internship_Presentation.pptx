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@ K=4 (%)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250 Tokens
(Overlap 25)</c:v>
                </c:pt>
                <c:pt idx="1">
                  <c:v>500 Tokens
(Overlap 50)</c:v>
                </c:pt>
                <c:pt idx="2">
                  <c:v>1000 Tokens
(Overlap 100)</c:v>
                </c:pt>
                <c:pt idx="3">
                  <c:v>2000 Tokens
(Overlap 200)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68.4</c:v>
                </c:pt>
                <c:pt idx="1">
                  <c:v>89.6</c:v>
                </c:pt>
                <c:pt idx="2">
                  <c:v>74.2</c:v>
                </c:pt>
                <c:pt idx="3">
                  <c:v>59.8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Retrieval Latency (ms)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Sheet1!$A$2:$A$5</c:f>
              <c:strCache>
                <c:ptCount val="4"/>
                <c:pt idx="0">
                  <c:v>250 Tokens
(Overlap 25)</c:v>
                </c:pt>
                <c:pt idx="1">
                  <c:v>500 Tokens
(Overlap 50)</c:v>
                </c:pt>
                <c:pt idx="2">
                  <c:v>1000 Tokens
(Overlap 100)</c:v>
                </c:pt>
                <c:pt idx="3">
                  <c:v>2000 Tokens
(Overlap 200)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11.2</c:v>
                </c:pt>
                <c:pt idx="1">
                  <c:v>14.8</c:v>
                </c:pt>
                <c:pt idx="2">
                  <c:v>22.6</c:v>
                </c:pt>
                <c:pt idx="3">
                  <c:v>38.1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Competency Score (out of 5.0)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Sheet1!$A$2:$A$7</c:f>
              <c:strCache>
                <c:ptCount val="6"/>
                <c:pt idx="0">
                  <c:v>Debugging &amp; Opt.</c:v>
                </c:pt>
                <c:pt idx="1">
                  <c:v>Python Quality</c:v>
                </c:pt>
                <c:pt idx="2">
                  <c:v>System Design</c:v>
                </c:pt>
                <c:pt idx="3">
                  <c:v>Documentation</c:v>
                </c:pt>
                <c:pt idx="4">
                  <c:v>Sprint Discipline</c:v>
                </c:pt>
                <c:pt idx="5">
                  <c:v>Vector Math &amp; AI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</c:v>
                </c:pt>
                <c:pt idx="1">
                  <c:v>4.7</c:v>
                </c:pt>
                <c:pt idx="2">
                  <c:v>4.8</c:v>
                </c:pt>
                <c:pt idx="3">
                  <c:v>4.9</c:v>
                </c:pt>
                <c:pt idx="4">
                  <c:v>5.0</c:v>
                </c:pt>
                <c:pt idx="5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0F172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3108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B.TECH. CSE SUMMER INTERNSHIP • SESSION 2025–2026</a:t>
            </a:r>
          </a:p>
          <a:p>
            <a:pPr algn="l">
              <a:spcAft>
                <a:spcPts val="1800"/>
              </a:spcAft>
            </a:pPr>
            <a:r>
              <a:rPr sz="4400" b="1">
                <a:solidFill>
                  <a:srgbClr val="F8FAFC"/>
                </a:solidFill>
                <a:latin typeface="Inter Display"/>
              </a:rPr>
              <a:t>Personal Document Q&amp;A Assistant via Local RAG</a:t>
            </a:r>
          </a:p>
          <a:p>
            <a:pPr algn="l"/>
            <a:r>
              <a:rPr sz="2000">
                <a:solidFill>
                  <a:srgbClr val="CBD5E1"/>
                </a:solidFill>
                <a:latin typeface="Inter"/>
              </a:rPr>
              <a:t>Six-Week AI &amp; NLP Training at InternCourse &amp; End-to-End Pipeline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94A3B8"/>
                </a:solidFill>
                <a:latin typeface="Inter"/>
              </a:rPr>
              <a:t>Aditya Kumar (024101010012)  |  Haridwar University  |  github.com/aditya93416/personal-document-rag-assistant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INTERNSHIP OVERVIEW • INTERNCOURSE (IC26/11873)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AI Training Built a Local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Training Profile &amp; Core Motivation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Host &amp; Mentorship: </a:t>
            </a:r>
            <a:r>
              <a:rPr sz="1600">
                <a:solidFill>
                  <a:srgbClr val="475569"/>
                </a:solidFill>
                <a:latin typeface="Inter"/>
              </a:rPr>
              <a:t>6 weeks (15 Jun–18 Jul 2026) at InternCourse (ISO/AICTE) under MD Ankit Pandey and Mentor Pooja Parmar.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Hallucination &amp; Privacy: </a:t>
            </a:r>
            <a:r>
              <a:rPr sz="1600">
                <a:solidFill>
                  <a:srgbClr val="475569"/>
                </a:solidFill>
                <a:latin typeface="Inter"/>
              </a:rPr>
              <a:t>Static LLMs fabricate ungrounded answers on private docs and risk data exposure via third-party APIs.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Engineering Objective: </a:t>
            </a:r>
            <a:r>
              <a:rPr sz="1600">
                <a:solidFill>
                  <a:srgbClr val="475569"/>
                </a:solidFill>
                <a:latin typeface="Inter"/>
              </a:rPr>
              <a:t>Build a local RAG assistant grounding answers strictly in uploaded PDF, DOCX, and TXT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Report Ch. 1–3 (ID: IC26/11873)   |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SYSTEM ARCHITECTURE • END-TO-END RAG DATAFLOW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Seven-Stage Pipeline Grounds Generation in Local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1. Parse &amp; Split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Clean Parsing: </a:t>
            </a:r>
            <a:r>
              <a:rPr sz="1600">
                <a:solidFill>
                  <a:srgbClr val="475569"/>
                </a:solidFill>
                <a:latin typeface="Inter"/>
              </a:rPr>
              <a:t>PyMuPDF and pdfplumber extract clean text and tables.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Sliding Window: </a:t>
            </a:r>
            <a:r>
              <a:rPr sz="1600">
                <a:solidFill>
                  <a:srgbClr val="475569"/>
                </a:solidFill>
                <a:latin typeface="Inter"/>
              </a:rPr>
              <a:t>Splits text into 500-token chunks with 50 overlap.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2. Embed &amp; Index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Dense Vectors: </a:t>
            </a:r>
            <a:r>
              <a:rPr sz="1600">
                <a:solidFill>
                  <a:srgbClr val="475569"/>
                </a:solidFill>
                <a:latin typeface="Inter"/>
              </a:rPr>
              <a:t>all-MiniLM-L6-v2 maps chunks into 384D semantic space.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HNSW Graph: </a:t>
            </a:r>
            <a:r>
              <a:rPr sz="1600">
                <a:solidFill>
                  <a:srgbClr val="475569"/>
                </a:solidFill>
                <a:latin typeface="Inter"/>
              </a:rPr>
              <a:t>ChromaDB persists vectors for sub-15ms cosine lookup.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3. Search &amp; QA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Cutoff Top-K: </a:t>
            </a:r>
            <a:r>
              <a:rPr sz="1600">
                <a:solidFill>
                  <a:srgbClr val="475569"/>
                </a:solidFill>
                <a:latin typeface="Inter"/>
              </a:rPr>
              <a:t>Retrieves top K=4 chunks above a 0.65 cosine threshold.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Grounded LLM: </a:t>
            </a:r>
            <a:r>
              <a:rPr sz="1600">
                <a:solidFill>
                  <a:srgbClr val="475569"/>
                </a:solidFill>
                <a:latin typeface="Inter"/>
              </a:rPr>
              <a:t>Local Llama-3-8B answers with strict page citations.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Report Ch. 4 (Fig. 4.1) | github.com/aditya93416/personal-document-rag-assistant   |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TECHNICAL STACK &amp; ENVIRONMENT • ZERO CLOUD DEPENDENCY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Open-Source Stack Runs Entirely on Workstation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Core AI &amp; NLP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LangChain: </a:t>
            </a:r>
            <a:r>
              <a:rPr sz="1600">
                <a:solidFill>
                  <a:srgbClr val="475569"/>
                </a:solidFill>
                <a:latin typeface="Inter"/>
              </a:rPr>
              <a:t>Chains Python 3.11 loaders, splitters, and prompt rules.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MiniLM-L6-v2: </a:t>
            </a:r>
            <a:r>
              <a:rPr sz="1600">
                <a:solidFill>
                  <a:srgbClr val="475569"/>
                </a:solidFill>
                <a:latin typeface="Inter"/>
              </a:rPr>
              <a:t>Encodes 384D semantic vectors in under 25ms per chunk.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DB &amp; Local LLM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ChromaDB: </a:t>
            </a:r>
            <a:r>
              <a:rPr sz="1600">
                <a:solidFill>
                  <a:srgbClr val="475569"/>
                </a:solidFill>
                <a:latin typeface="Inter"/>
              </a:rPr>
              <a:t>Serverless HNSW index storing vectors and page metadata.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Llama-3-8B: </a:t>
            </a:r>
            <a:r>
              <a:rPr sz="1600">
                <a:solidFill>
                  <a:srgbClr val="475569"/>
                </a:solidFill>
                <a:latin typeface="Inter"/>
              </a:rPr>
              <a:t>Runs via Ollama on RTX 3060 (6GB VRAM) and 16GB 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UI &amp; DevOps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Streamlit UI: </a:t>
            </a:r>
            <a:r>
              <a:rPr sz="1600">
                <a:solidFill>
                  <a:srgbClr val="475569"/>
                </a:solidFill>
                <a:latin typeface="Inter"/>
              </a:rPr>
              <a:t>Renders real-time PDF ingestion and Q&amp;A citation views.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Docker &amp; Git: </a:t>
            </a:r>
            <a:r>
              <a:rPr sz="1600">
                <a:solidFill>
                  <a:srgbClr val="475569"/>
                </a:solidFill>
                <a:latin typeface="Inter"/>
              </a:rPr>
              <a:t>Containerized Linux build hosted on GitHub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Internship Report Ch. 5 (Section 5.1 &amp; Table 5.1 Hardware/Software Specifications)   |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HOW THE PROJECT WAS BUILT • GITHUB REPOSITORY IMPLEMENTATION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Modular Python Codebase Separates Config, Indexing, and QA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106984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3017520"/>
                <a:gridCol w="3749039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Repository Module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Core Class / Component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Key Parameters &amp; Methods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Engineering Responsibility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config.py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RAGConfig (@dataclass)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CHUNK_SIZE=500, OVERLAP=50, TOP_K=4, THRESHOLD=0.65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Centralizes model hyperparameters, ChromaDB paths, and strict anti-hallucination system prompt.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ingestion.py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IngestionPipeline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load_document(), ingest_file(), RecursiveCharacterTextSplitter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Parses PDF/TXT files, splits text on hierarchical separators, attaches page metadata, and indexes into ChromaDB.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query_engine.py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RAGQueryEngine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retrieve(), generate_answer(), similarity_search_with_relevance_scores()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Computes cosine similarity, filters Top-K chunks, tracks retrieval latency (ms), and formats page citations.</a:t>
                      </a:r>
                    </a:p>
                  </a:txBody>
                  <a:tcPr anchor="ctr" marL="109728" marR="109728" marT="73152" marB="73152">
                    <a:solidFill>
                      <a:srgbClr val="E0F2F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app.py (UI Layer)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Streamlit Web Console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Drag-and-drop uploader, hyperparameter sliders, citation cards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Provides reactive dark/light dashboard with real-time vector count, chat history, and cosine score inspector.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Appendix B Source Code Listings B.1–B.3 | github.com/aditya93416/personal-document-rag-assistant   |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AGILE WORK LOG • 15 JUNE 2026 – 18 JULY 2026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Six Weekly Sprints Delivered Parsing, Indexing, and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Weeks 1–2: Setup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1 (Jun 15): </a:t>
            </a:r>
            <a:r>
              <a:rPr sz="1600">
                <a:solidFill>
                  <a:srgbClr val="475569"/>
                </a:solidFill>
                <a:latin typeface="Inter"/>
              </a:rPr>
              <a:t>Set up Python 3.11, studied RAG papers, tested PyMuPDF.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2 (Jun 22): </a:t>
            </a:r>
            <a:r>
              <a:rPr sz="1600">
                <a:solidFill>
                  <a:srgbClr val="475569"/>
                </a:solidFill>
                <a:latin typeface="Inter"/>
              </a:rPr>
              <a:t>Built PDF/DOCX parser and tested text splitters.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Weeks 3–4: RAG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3 (Jun 29): </a:t>
            </a:r>
            <a:r>
              <a:rPr sz="1600">
                <a:solidFill>
                  <a:srgbClr val="475569"/>
                </a:solidFill>
                <a:latin typeface="Inter"/>
              </a:rPr>
              <a:t>Compared MiniLM vs BGE/mpnet; built ChromaDB schema.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4 (Jul 06): </a:t>
            </a:r>
            <a:r>
              <a:rPr sz="1600">
                <a:solidFill>
                  <a:srgbClr val="475569"/>
                </a:solidFill>
                <a:latin typeface="Inter"/>
              </a:rPr>
              <a:t>Tuned Top-K=4 search and anti-hallucination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2740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168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Weeks 5–6: QA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5 (Jul 13): </a:t>
            </a:r>
            <a:r>
              <a:rPr sz="1600">
                <a:solidFill>
                  <a:srgbClr val="475569"/>
                </a:solidFill>
                <a:latin typeface="Inter"/>
              </a:rPr>
              <a:t>Built Streamlit UI, chat memory, and latency profiler.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Week 6 (Jul 20): </a:t>
            </a:r>
            <a:r>
              <a:rPr sz="1600">
                <a:solidFill>
                  <a:srgbClr val="475569"/>
                </a:solidFill>
                <a:latin typeface="Inter"/>
              </a:rPr>
              <a:t>Ran 50-query benchmark on 120-page test corpus.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Internship Report Ch. 6 (Table 6.1 Comprehensive 6-Week Internship Work Log)   |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EMPIRICAL BENCHMARK • 120-PAGE CORPUS &amp; 50 GROUND-TRUTH QUERIES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500-Token Chunks Achieved 89.6% Hit Rate at 14.8ms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Chunk Size vs. Accuracy Findings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Optimal 500-Token Window: </a:t>
            </a:r>
            <a:r>
              <a:rPr sz="1600">
                <a:solidFill>
                  <a:srgbClr val="475569"/>
                </a:solidFill>
                <a:latin typeface="Inter"/>
              </a:rPr>
              <a:t>500 tokens (50 overlap) delivered peak 89.6% Hit Rate @ K=4 with fast 14.8ms retrieval latency.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Small Chunk Fragmentation: </a:t>
            </a:r>
            <a:r>
              <a:rPr sz="1600">
                <a:solidFill>
                  <a:srgbClr val="475569"/>
                </a:solidFill>
                <a:latin typeface="Inter"/>
              </a:rPr>
              <a:t>250-token chunks ran in 11.2ms but fell to 68.4% hit rate from context loss.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Large Chunk Dilution: </a:t>
            </a:r>
            <a:r>
              <a:rPr sz="1600">
                <a:solidFill>
                  <a:srgbClr val="475569"/>
                </a:solidFill>
                <a:latin typeface="Inter"/>
              </a:rPr>
              <a:t>1000–2000 token chunks diluted precision (74.2%, 59.8%) and raised latency.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57400"/>
          <a:ext cx="55778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Internship Report Ch. 6 (Section 6.2 &amp; Table 6.2 Empirical Evaluation of Chunk Sizes)   |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USER INTERFACE ARTIFACTS • APPENDIX C DASHBOARD VIEWS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Streamlit UI Displays Grounded Answers and Cosine Scores</a:t>
            </a:r>
          </a:p>
        </p:txBody>
      </p:sp>
      <p:pic>
        <p:nvPicPr>
          <p:cNvPr id="4" name="Picture 3" descr="cropped_u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5120640" cy="251460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cropped_u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057400"/>
            <a:ext cx="5120640" cy="2514600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731520" y="4709160"/>
            <a:ext cx="5120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284C7"/>
                </a:solidFill>
                <a:latin typeface="Inter Display"/>
              </a:rPr>
              <a:t>Ingestion Console &amp; Hyperparameter Controls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Live Indexing: </a:t>
            </a:r>
            <a:r>
              <a:rPr sz="1600">
                <a:solidFill>
                  <a:srgbClr val="475569"/>
                </a:solidFill>
                <a:latin typeface="Inter"/>
              </a:rPr>
              <a:t>Drag-and-drop PDF uploader displays active ChromaDB chunks (24 vectors) and tunable sliders.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4709160"/>
            <a:ext cx="5120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284C7"/>
                </a:solidFill>
                <a:latin typeface="Inter Display"/>
              </a:rPr>
              <a:t>Real-Time Citation &amp; Relevance Inspector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Verified Provenance: </a:t>
            </a:r>
            <a:r>
              <a:rPr sz="1600">
                <a:solidFill>
                  <a:srgbClr val="475569"/>
                </a:solidFill>
                <a:latin typeface="Inter"/>
              </a:rPr>
              <a:t>Renders exact document page citations, cosine similarity score (0.914), and 14.8ms lookup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Internship Report Appendix C (Figures 11.2 &amp; 11.3 Interactive Streamlit UI)   |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CHALLENGES SOLVED &amp; OUTCOMES • CHAPTERS 7–9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Recursive Splitting and Cutoffs Solved Context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Engineering Solutions &amp; Future Roadmap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Boundary Continuity: </a:t>
            </a:r>
            <a:r>
              <a:rPr sz="1600">
                <a:solidFill>
                  <a:srgbClr val="475569"/>
                </a:solidFill>
                <a:latin typeface="Inter"/>
              </a:rPr>
              <a:t>Used recursive separators and 50-token overlap to preserve full sentences.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Noise &amp; Table Handling: </a:t>
            </a:r>
            <a:r>
              <a:rPr sz="1600">
                <a:solidFill>
                  <a:srgbClr val="475569"/>
                </a:solidFill>
                <a:latin typeface="Inter"/>
              </a:rPr>
              <a:t>Applied a 0.65 cosine cutoff (Top-K=4) and parsed PDF tables to Markdown.</a:t>
            </a:r>
          </a:p>
          <a:p>
            <a:pPr algn="l" marL="219456" indent="-219456">
              <a:spcAft>
                <a:spcPts val="12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Future Enhancements: </a:t>
            </a:r>
            <a:r>
              <a:rPr sz="1600">
                <a:solidFill>
                  <a:srgbClr val="475569"/>
                </a:solidFill>
                <a:latin typeface="Inter"/>
              </a:rPr>
              <a:t>Add BM25 + dense hybrid RRF search, BGE cross-encoders, and Tesseract OCR.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57400"/>
          <a:ext cx="55778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Internship Report Ch. 7 (Table 7.1 Scorecard), Ch. 8 (Challenges) &amp; Ch. 9 (Future Scope)   |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THANK YOU • QUESTIONS &amp; DISCUSSION</a:t>
            </a:r>
          </a:p>
          <a:p>
            <a:pPr algn="l">
              <a:spcAft>
                <a:spcPts val="1600"/>
              </a:spcAft>
            </a:pPr>
            <a:r>
              <a:rPr sz="4200" b="1">
                <a:solidFill>
                  <a:srgbClr val="F8FAFC"/>
                </a:solidFill>
                <a:latin typeface="Inter Display"/>
              </a:rPr>
              <a:t>Grounded AI Starts With Verifiable Local Retrieval.</a:t>
            </a:r>
          </a:p>
          <a:p>
            <a:pPr algn="l"/>
            <a:r>
              <a:rPr sz="2000">
                <a:solidFill>
                  <a:srgbClr val="CBD5E1"/>
                </a:solidFill>
                <a:latin typeface="Inter"/>
              </a:rPr>
              <a:t>Explore the full source code, Streamlit UI, and evaluation suite on GitHub.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94A3B8"/>
                </a:solidFill>
                <a:latin typeface="Inter"/>
              </a:rPr>
              <a:t>Aditya Kumar (024101010012)  |  Cert IC26/11873  |  github.com/aditya93416/personal-document-rag-assistant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